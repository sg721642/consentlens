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E3DC"/>
    <a:srgbClr val="FAF0EB"/>
    <a:srgbClr val="FAF5D8"/>
    <a:srgbClr val="9A6C0A"/>
    <a:srgbClr val="F6F7F9"/>
    <a:srgbClr val="EBF4F1"/>
    <a:srgbClr val="566478"/>
    <a:srgbClr val="CFD5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7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8085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— Title. Fill in Team Name/ID and College. Speak ~15 sec. Tagline: 'Know what every app is collecting — no login, zero data needed.'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— Problem.
LEFT: 3 large sienna stat callouts.
RIGHT: INSERT Image 7 — 'The Privacy Gap' horizontal bar chart (apps on phone / permissions per app / users who read policies).
Speak ~30 sec.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— Solution. 3-box flow (INPUT/PROCESS/OUTPUT) + comparison table + privacy promise footer. No chart image on this slide. Speak ~30 sec.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— Architecture.
LEFT: 5-step system flow with step badges.
RIGHT: INSERT Image 2 — 'Permission Scoring Weights' (vertical bar chart: each permission type and its risk-point weight).
Bottom: tech stack pills. 'Open LLM API' means the open-source AI engine used.
Speak ~30 sec.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— Key Features. 5 numbered rows (alternating bg), each split: feature name left / description right. No chart image on this slide. Speak ~30 sec, one clear sentence per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— Impact.
TOP: 3 stat callouts (6.8B users / cost / speed).
CENTRE-LEFT: INSERT Image 6 — 'App Risk Ranking' horizontal bar chart (color-coded dark-red to green, ranked by risk score).
RIGHT: Who benefits (coloured % bars) + feasibility list.
Speak ~30 sec.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— Demo &amp; Conclusion.
LEFT: Simulated output panel (5 apps with risk scores + ArmorIQ badge). Replace URL with actual deployed link.
RIGHT: 3 numbered reasons (with forest green left-edge accents) + closing quote in forest green block.
No chart image on this slide.
Speak ~45 sec: open browser for live demo first, then walk through the 3 reasons.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77854" y="-1645920"/>
            <a:ext cx="5943600" cy="5943600"/>
          </a:xfrm>
          <a:prstGeom prst="ellipse">
            <a:avLst/>
          </a:prstGeom>
          <a:solidFill>
            <a:srgbClr val="EBF4F1">
              <a:alpha val="45000"/>
            </a:srgbClr>
          </a:solidFill>
          <a:ln w="15240">
            <a:solidFill>
              <a:srgbClr val="1C5C4A">
                <a:alpha val="3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6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NeuroX Hackathon  ·  June 21 2026  ·  Track 3 — Reimagine Security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0" b="1" kern="0" spc="400" dirty="0">
                <a:solidFill>
                  <a:srgbClr val="1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CONSENT</a:t>
            </a:r>
            <a:r>
              <a:rPr lang="en-US" sz="7000" b="1" kern="0" spc="400" dirty="0">
                <a:solidFill>
                  <a:srgbClr val="1C5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LENS</a:t>
            </a:r>
            <a:endParaRPr lang="en-US" sz="7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C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Permission Reality Checker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304288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6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 every installed app is collecting about you — no login, no device access, zero personal data processed.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889504"/>
            <a:ext cx="5120640" cy="0"/>
          </a:xfrm>
          <a:prstGeom prst="line">
            <a:avLst/>
          </a:prstGeom>
          <a:noFill/>
          <a:ln w="7620">
            <a:solidFill>
              <a:srgbClr val="CFD5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026" y="303580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kern="0" spc="150" dirty="0">
                <a:solidFill>
                  <a:srgbClr val="1C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3587" y="3176148"/>
            <a:ext cx="1282148" cy="792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sv-SE" sz="1200" b="1" dirty="0">
              <a:solidFill>
                <a:srgbClr val="1A2333"/>
              </a:solidFill>
              <a:latin typeface="Calibri" pitchFamily="34" charset="0"/>
              <a:cs typeface="Calibri" pitchFamily="34" charset="-120"/>
            </a:endParaRPr>
          </a:p>
          <a:p>
            <a:pPr marL="0" indent="0" algn="l">
              <a:buNone/>
            </a:pPr>
            <a:r>
              <a:rPr lang="sv-SE" sz="1200" b="1" dirty="0">
                <a:solidFill>
                  <a:srgbClr val="1A2333"/>
                </a:solidFill>
                <a:latin typeface="Calibri" pitchFamily="34" charset="0"/>
                <a:cs typeface="Calibri" pitchFamily="34" charset="-120"/>
              </a:rPr>
              <a:t>3 Musketeers</a:t>
            </a:r>
          </a:p>
          <a:p>
            <a:pPr marL="0" indent="0" algn="l">
              <a:buNone/>
            </a:pPr>
            <a:endParaRPr lang="sv-SE" sz="1200" b="1" dirty="0">
              <a:solidFill>
                <a:srgbClr val="1A2333"/>
              </a:solidFill>
              <a:latin typeface="Calibri" pitchFamily="34" charset="0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IN" sz="1200" b="1" dirty="0"/>
              <a:t>Deepak Kumar</a:t>
            </a:r>
            <a:br>
              <a:rPr lang="en-IN" sz="1200" b="1" dirty="0"/>
            </a:br>
            <a:r>
              <a:rPr lang="en-IN" sz="1200" b="1" dirty="0"/>
              <a:t>Satyam Gupta</a:t>
            </a:r>
            <a:br>
              <a:rPr lang="en-IN" sz="1200" b="1" dirty="0"/>
            </a:br>
            <a:r>
              <a:rPr lang="en-IN" sz="1200" b="1" dirty="0" err="1"/>
              <a:t>Chiranjivi</a:t>
            </a:r>
            <a:r>
              <a:rPr lang="en-IN" sz="1200" b="1" dirty="0"/>
              <a:t> Panda</a:t>
            </a:r>
            <a:endParaRPr lang="en-US" sz="1200" b="1" dirty="0"/>
          </a:p>
        </p:txBody>
      </p:sp>
      <p:sp>
        <p:nvSpPr>
          <p:cNvPr id="10" name="Text 8"/>
          <p:cNvSpPr/>
          <p:nvPr/>
        </p:nvSpPr>
        <p:spPr>
          <a:xfrm>
            <a:off x="3108960" y="301752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108960" y="323697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28755" y="301752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kern="0" spc="150" dirty="0">
                <a:solidFill>
                  <a:srgbClr val="1C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45844" y="323697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ArmorIQ · ArmorClaw · Open-Source AI · React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8321040" cy="274320"/>
          </a:xfrm>
          <a:prstGeom prst="rect">
            <a:avLst/>
          </a:prstGeom>
          <a:solidFill>
            <a:srgbClr val="EBF4F1"/>
          </a:solidFill>
          <a:ln w="12700">
            <a:solidFill>
              <a:srgbClr val="C8E3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ArmorIQ-enforced policy · Only app names processed · Zero personal data retained on every request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9456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Permission Blindspot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20848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B54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12+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411480" y="1554480"/>
            <a:ext cx="20848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6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per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6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app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2029968"/>
            <a:ext cx="20848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B54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411480" y="2761488"/>
            <a:ext cx="20848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6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accept all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6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reviewing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3236976"/>
            <a:ext cx="20848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B54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3s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411480" y="3968496"/>
            <a:ext cx="20848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6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decision time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6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permission dialogs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422452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kern="0" spc="120" dirty="0">
                <a:solidFill>
                  <a:srgbClr val="1C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 FAIL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4443984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6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Settings is buried 4 menus deep. Exodus Privacy needs APK upload. Manual research takes 30+ minutes. No tool is fast, simple, and privacy-preserving.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971800" y="932688"/>
            <a:ext cx="566928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5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INSERT CHART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5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7 — The Privacy Gap (Horizontal Bar Chart)</a:t>
            </a:r>
            <a:endParaRPr lang="en-US" sz="110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85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on phone: ~80  |  Avg permissions/app: 12  |  Users who read policies: ~0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60278" y="4845149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8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*Approximate UX privacy-literacy research data  —  ConsentLens closes this gap</a:t>
            </a:r>
            <a:endParaRPr lang="en-US" sz="8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8CAFC2B-86B4-7759-2749-4A8B19F614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3060" y="829843"/>
            <a:ext cx="5669279" cy="373657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9456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ConsentLens: Instant Clarity, Zero Compromise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2578608" cy="1572768"/>
          </a:xfrm>
          <a:prstGeom prst="rect">
            <a:avLst/>
          </a:prstGeom>
          <a:solidFill>
            <a:srgbClr val="EBF4F1"/>
          </a:solidFill>
          <a:ln w="15240">
            <a:solidFill>
              <a:srgbClr val="C8E3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886968"/>
            <a:ext cx="23591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1C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INPUT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12064" y="1133856"/>
            <a:ext cx="23591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Names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1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12064" y="1591056"/>
            <a:ext cx="23591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names like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6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Instagram, TikTok.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6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login. No files.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944368" y="1170432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91840" y="804672"/>
            <a:ext cx="2578608" cy="1572768"/>
          </a:xfrm>
          <a:prstGeom prst="rect">
            <a:avLst/>
          </a:prstGeom>
          <a:solidFill>
            <a:srgbClr val="EEF2F7"/>
          </a:solidFill>
          <a:ln w="15240">
            <a:solidFill>
              <a:srgbClr val="C5D0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38144" y="886968"/>
            <a:ext cx="23591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3B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PROCESS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38144" y="1133856"/>
            <a:ext cx="23591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Security-Enforced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1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438144" y="1591056"/>
            <a:ext cx="23591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ArmorClaw threat scan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6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ArmorIQ policy check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6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permission analysis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870448" y="1170432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217920" y="804672"/>
            <a:ext cx="2578608" cy="1572768"/>
          </a:xfrm>
          <a:prstGeom prst="rect">
            <a:avLst/>
          </a:prstGeom>
          <a:solidFill>
            <a:srgbClr val="FAF0EB"/>
          </a:solidFill>
          <a:ln w="15240">
            <a:solidFill>
              <a:srgbClr val="F2DD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64224" y="886968"/>
            <a:ext cx="23591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B54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OUTPUT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64224" y="1133856"/>
            <a:ext cx="23591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Plain Risk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1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364224" y="1591056"/>
            <a:ext cx="23591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0–100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6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 verdict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6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steps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1480" y="2505456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ConsentLens Outperforms Every Existing Tool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816352"/>
            <a:ext cx="1828800" cy="274320"/>
          </a:xfrm>
          <a:prstGeom prst="rect">
            <a:avLst/>
          </a:prstGeom>
          <a:solidFill>
            <a:srgbClr val="1A2333"/>
          </a:solidFill>
          <a:ln w="12700">
            <a:solidFill>
              <a:srgbClr val="1A2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81635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67712" y="2816352"/>
            <a:ext cx="3182112" cy="274320"/>
          </a:xfrm>
          <a:prstGeom prst="rect">
            <a:avLst/>
          </a:prstGeom>
          <a:solidFill>
            <a:srgbClr val="6B7A8A"/>
          </a:solidFill>
          <a:ln w="12700">
            <a:solidFill>
              <a:srgbClr val="6B7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59152" y="2816352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522976" y="2816352"/>
            <a:ext cx="3310128" cy="274320"/>
          </a:xfrm>
          <a:prstGeom prst="rect">
            <a:avLst/>
          </a:prstGeom>
          <a:solidFill>
            <a:srgbClr val="1C5C4A"/>
          </a:solidFill>
          <a:ln w="12700">
            <a:solidFill>
              <a:srgbClr val="1C5C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14416" y="2816352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ConsentLens  ✔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3145536"/>
            <a:ext cx="1828800" cy="320040"/>
          </a:xfrm>
          <a:prstGeom prst="rect">
            <a:avLst/>
          </a:prstGeom>
          <a:solidFill>
            <a:srgbClr val="EFF1F4"/>
          </a:solidFill>
          <a:ln w="6350">
            <a:solidFill>
              <a:srgbClr val="CFD5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145536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267712" y="3145536"/>
            <a:ext cx="3182112" cy="320040"/>
          </a:xfrm>
          <a:prstGeom prst="rect">
            <a:avLst/>
          </a:prstGeom>
          <a:solidFill>
            <a:srgbClr val="EFF1F4"/>
          </a:solidFill>
          <a:ln w="6350">
            <a:solidFill>
              <a:srgbClr val="CFD5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59152" y="3145536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Requires login or device access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522976" y="3145536"/>
            <a:ext cx="3310128" cy="320040"/>
          </a:xfrm>
          <a:prstGeom prst="rect">
            <a:avLst/>
          </a:prstGeom>
          <a:solidFill>
            <a:srgbClr val="EFF1F4"/>
          </a:solidFill>
          <a:ln w="6350">
            <a:solidFill>
              <a:srgbClr val="CFD5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14416" y="3145536"/>
            <a:ext cx="3163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D5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App names only — nothing else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3493008"/>
            <a:ext cx="1828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FD5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493008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267712" y="3493008"/>
            <a:ext cx="3182112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FD5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59152" y="3493008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15–30 min research per app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522976" y="3493008"/>
            <a:ext cx="3310128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FD5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14416" y="3493008"/>
            <a:ext cx="3163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D5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30 seconds, fully automated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" y="3840480"/>
            <a:ext cx="1828800" cy="320040"/>
          </a:xfrm>
          <a:prstGeom prst="rect">
            <a:avLst/>
          </a:prstGeom>
          <a:solidFill>
            <a:srgbClr val="EFF1F4"/>
          </a:solidFill>
          <a:ln w="6350">
            <a:solidFill>
              <a:srgbClr val="CFD5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840480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267712" y="3840480"/>
            <a:ext cx="3182112" cy="320040"/>
          </a:xfrm>
          <a:prstGeom prst="rect">
            <a:avLst/>
          </a:prstGeom>
          <a:solidFill>
            <a:srgbClr val="EFF1F4"/>
          </a:solidFill>
          <a:ln w="6350">
            <a:solidFill>
              <a:srgbClr val="CFD5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59152" y="3840480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Technical jargon and legal text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522976" y="3840480"/>
            <a:ext cx="3310128" cy="320040"/>
          </a:xfrm>
          <a:prstGeom prst="rect">
            <a:avLst/>
          </a:prstGeom>
          <a:solidFill>
            <a:srgbClr val="EFF1F4"/>
          </a:solidFill>
          <a:ln w="6350">
            <a:solidFill>
              <a:srgbClr val="CFD5D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14416" y="3840480"/>
            <a:ext cx="3163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D5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Plain English for any user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65760" y="4187952"/>
            <a:ext cx="1828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FD5D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187952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267712" y="4187952"/>
            <a:ext cx="3182112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FD5D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359152" y="4187952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audit trail or enforcement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522976" y="4187952"/>
            <a:ext cx="3310128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FD5D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14416" y="4187952"/>
            <a:ext cx="3163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D5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ArmorIQ-enforced, fully audited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65760" y="4572000"/>
            <a:ext cx="8430768" cy="274320"/>
          </a:xfrm>
          <a:prstGeom prst="rect">
            <a:avLst/>
          </a:prstGeom>
          <a:solidFill>
            <a:srgbClr val="EBF4F1"/>
          </a:solidFill>
          <a:ln w="12700">
            <a:solidFill>
              <a:srgbClr val="C8E3D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457200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ArmorIQ Guarantee: Only app-name strings processed · No credentials · No device access · Immutable audit log on every request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9456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Tech Stack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4736592" cy="585216"/>
          </a:xfrm>
          <a:prstGeom prst="rect">
            <a:avLst/>
          </a:prstGeom>
          <a:solidFill>
            <a:srgbClr val="EFF1F4"/>
          </a:solidFill>
          <a:ln w="8890">
            <a:solidFill>
              <a:srgbClr val="CFD5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32688"/>
            <a:ext cx="365760" cy="365760"/>
          </a:xfrm>
          <a:prstGeom prst="ellipse">
            <a:avLst/>
          </a:prstGeom>
          <a:solidFill>
            <a:srgbClr val="1C5C4A"/>
          </a:solidFill>
          <a:ln w="12700">
            <a:solidFill>
              <a:srgbClr val="1C5C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32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932688" y="877824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32688" y="1133856"/>
            <a:ext cx="2240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names entered via web UI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73552" y="969264"/>
            <a:ext cx="1664208" cy="274320"/>
          </a:xfrm>
          <a:prstGeom prst="rect">
            <a:avLst/>
          </a:prstGeom>
          <a:solidFill>
            <a:srgbClr val="EBF4F1"/>
          </a:solidFill>
          <a:ln w="10160">
            <a:solidFill>
              <a:srgbClr val="C8E3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969264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No database required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93776" y="1408176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8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517904"/>
            <a:ext cx="4736592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CFD5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627632"/>
            <a:ext cx="365760" cy="365760"/>
          </a:xfrm>
          <a:prstGeom prst="ellipse">
            <a:avLst/>
          </a:prstGeom>
          <a:solidFill>
            <a:srgbClr val="3B6082"/>
          </a:solidFill>
          <a:ln w="12700">
            <a:solidFill>
              <a:srgbClr val="3B60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32688" y="1572768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ArmorClaw Scan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32688" y="1828800"/>
            <a:ext cx="2240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input detection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93776" y="210312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8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212848"/>
            <a:ext cx="4736592" cy="585216"/>
          </a:xfrm>
          <a:prstGeom prst="rect">
            <a:avLst/>
          </a:prstGeom>
          <a:solidFill>
            <a:srgbClr val="EFF1F4"/>
          </a:solidFill>
          <a:ln w="8890">
            <a:solidFill>
              <a:srgbClr val="CFD5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322576"/>
            <a:ext cx="365760" cy="365760"/>
          </a:xfrm>
          <a:prstGeom prst="ellipse">
            <a:avLst/>
          </a:prstGeom>
          <a:solidFill>
            <a:srgbClr val="1C5C4A"/>
          </a:solidFill>
          <a:ln w="12700">
            <a:solidFill>
              <a:srgbClr val="1C5C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322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32688" y="2267712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ArmorIQ Policy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32688" y="2523744"/>
            <a:ext cx="2240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Metadata-only enforcement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3776" y="2798064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8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2907792"/>
            <a:ext cx="4736592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CFD5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017520"/>
            <a:ext cx="365760" cy="365760"/>
          </a:xfrm>
          <a:prstGeom prst="ellipse">
            <a:avLst/>
          </a:prstGeom>
          <a:solidFill>
            <a:srgbClr val="6B3A8A"/>
          </a:solidFill>
          <a:ln w="12700">
            <a:solidFill>
              <a:srgbClr val="6B3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32688" y="2962656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32688" y="3218688"/>
            <a:ext cx="2240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LLM permission check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93776" y="3493008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8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3602736"/>
            <a:ext cx="4736592" cy="585216"/>
          </a:xfrm>
          <a:prstGeom prst="rect">
            <a:avLst/>
          </a:prstGeom>
          <a:solidFill>
            <a:srgbClr val="EFF1F4"/>
          </a:solidFill>
          <a:ln w="8890">
            <a:solidFill>
              <a:srgbClr val="CFD5D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712464"/>
            <a:ext cx="365760" cy="365760"/>
          </a:xfrm>
          <a:prstGeom prst="ellipse">
            <a:avLst/>
          </a:prstGeom>
          <a:solidFill>
            <a:srgbClr val="B5461E"/>
          </a:solidFill>
          <a:ln w="12700">
            <a:solidFill>
              <a:srgbClr val="B5461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712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32688" y="365760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Report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32688" y="3913632"/>
            <a:ext cx="2240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result + plain language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73552" y="3749040"/>
            <a:ext cx="1664208" cy="274320"/>
          </a:xfrm>
          <a:prstGeom prst="rect">
            <a:avLst/>
          </a:prstGeom>
          <a:solidFill>
            <a:srgbClr val="FAF0EB"/>
          </a:solidFill>
          <a:ln w="10160">
            <a:solidFill>
              <a:srgbClr val="F2DDD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1840" y="37490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54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 score + plain text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65760" y="4434840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1C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" y="4663440"/>
            <a:ext cx="1078992" cy="274320"/>
          </a:xfrm>
          <a:prstGeom prst="roundRect">
            <a:avLst>
              <a:gd name="adj" fmla="val 13333"/>
            </a:avLst>
          </a:prstGeom>
          <a:solidFill>
            <a:srgbClr val="EBF4F1"/>
          </a:solidFill>
          <a:ln w="10160">
            <a:solidFill>
              <a:srgbClr val="1C5C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66344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536192" y="4663440"/>
            <a:ext cx="1078992" cy="274320"/>
          </a:xfrm>
          <a:prstGeom prst="roundRect">
            <a:avLst>
              <a:gd name="adj" fmla="val 13333"/>
            </a:avLst>
          </a:prstGeom>
          <a:solidFill>
            <a:srgbClr val="EEF2F7"/>
          </a:solidFill>
          <a:ln w="10160">
            <a:solidFill>
              <a:srgbClr val="3B608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536192" y="466344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06624" y="4663440"/>
            <a:ext cx="1078992" cy="274320"/>
          </a:xfrm>
          <a:prstGeom prst="roundRect">
            <a:avLst>
              <a:gd name="adj" fmla="val 13333"/>
            </a:avLst>
          </a:prstGeom>
          <a:solidFill>
            <a:srgbClr val="EEF2F7"/>
          </a:solidFill>
          <a:ln w="10160">
            <a:solidFill>
              <a:srgbClr val="3B608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06624" y="466344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877056" y="4663440"/>
            <a:ext cx="1078992" cy="274320"/>
          </a:xfrm>
          <a:prstGeom prst="roundRect">
            <a:avLst>
              <a:gd name="adj" fmla="val 13333"/>
            </a:avLst>
          </a:prstGeom>
          <a:solidFill>
            <a:srgbClr val="EBF4F1"/>
          </a:solidFill>
          <a:ln w="10160">
            <a:solidFill>
              <a:srgbClr val="1C5C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77056" y="466344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ArmorIQ SDK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047488" y="4663440"/>
            <a:ext cx="1078992" cy="274320"/>
          </a:xfrm>
          <a:prstGeom prst="roundRect">
            <a:avLst>
              <a:gd name="adj" fmla="val 13333"/>
            </a:avLst>
          </a:prstGeom>
          <a:solidFill>
            <a:srgbClr val="FAF0EB"/>
          </a:solidFill>
          <a:ln w="10160">
            <a:solidFill>
              <a:srgbClr val="B5461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47488" y="466344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54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ArmorClaw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217920" y="4663440"/>
            <a:ext cx="1078992" cy="274320"/>
          </a:xfrm>
          <a:prstGeom prst="roundRect">
            <a:avLst>
              <a:gd name="adj" fmla="val 13333"/>
            </a:avLst>
          </a:prstGeom>
          <a:solidFill>
            <a:srgbClr val="EDE6F5"/>
          </a:solidFill>
          <a:ln w="10160">
            <a:solidFill>
              <a:srgbClr val="6B3A8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17920" y="466344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LLM API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388352" y="4663440"/>
            <a:ext cx="1078992" cy="274320"/>
          </a:xfrm>
          <a:prstGeom prst="roundRect">
            <a:avLst>
              <a:gd name="adj" fmla="val 13333"/>
            </a:avLst>
          </a:prstGeom>
          <a:solidFill>
            <a:srgbClr val="E8EAED"/>
          </a:solidFill>
          <a:ln w="10160">
            <a:solidFill>
              <a:srgbClr val="1A2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88352" y="466344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394960" y="987552"/>
            <a:ext cx="3291840" cy="3127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5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INSERT CHART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5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2 — Permission Scoring Weights</a:t>
            </a:r>
            <a:endParaRPr lang="en-US" sz="110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85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bar chart: Precise Location = 8 pts, Camera/Mic/SMS = 6 pts, Bluetooth = 2 pts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257800" y="433425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8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weights that power the risk engine</a:t>
            </a:r>
            <a:endParaRPr lang="en-US" sz="850" dirty="0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655B8F2C-312B-E588-C9A8-FF70526F93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804672"/>
            <a:ext cx="3690851" cy="3383280"/>
          </a:xfrm>
          <a:prstGeom prst="rect">
            <a:avLst/>
          </a:prstGeom>
          <a:ln w="19050">
            <a:solidFill>
              <a:srgbClr val="CFD5DC"/>
            </a:solidFill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9456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Features That Set ConsentLens Apart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1C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429000" y="749808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1C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7620">
            <a:solidFill>
              <a:srgbClr val="CFD5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87552"/>
            <a:ext cx="8430768" cy="749808"/>
          </a:xfrm>
          <a:prstGeom prst="rect">
            <a:avLst/>
          </a:prstGeom>
          <a:solidFill>
            <a:srgbClr val="EFF1F4"/>
          </a:solidFill>
          <a:ln w="6350">
            <a:solidFill>
              <a:srgbClr val="CFD5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60704"/>
            <a:ext cx="47548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5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042416" y="1097280"/>
            <a:ext cx="1207008" cy="201168"/>
          </a:xfrm>
          <a:prstGeom prst="roundRect">
            <a:avLst>
              <a:gd name="adj" fmla="val 18182"/>
            </a:avLst>
          </a:prstGeom>
          <a:solidFill>
            <a:srgbClr val="EBF4F1"/>
          </a:solidFill>
          <a:ln w="6350">
            <a:solidFill>
              <a:srgbClr val="1C5C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" y="1097280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INNOVATION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042416" y="1325880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Zero-PII Architecture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46704" y="1078992"/>
            <a:ext cx="0" cy="566928"/>
          </a:xfrm>
          <a:prstGeom prst="line">
            <a:avLst/>
          </a:prstGeom>
          <a:noFill/>
          <a:ln w="8890">
            <a:solidFill>
              <a:srgbClr val="CFD5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078992"/>
            <a:ext cx="51755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6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app names enter the system. ArmorIQ enforces a strict metadata-only policy at every request. PII is blocked and logged before reaching any service. The privacy promise is technical — not a marketing claim.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1792224"/>
            <a:ext cx="8430768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FD5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865376"/>
            <a:ext cx="47548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042416" y="1901952"/>
            <a:ext cx="1207008" cy="201168"/>
          </a:xfrm>
          <a:prstGeom prst="roundRect">
            <a:avLst>
              <a:gd name="adj" fmla="val 18182"/>
            </a:avLst>
          </a:prstGeom>
          <a:solidFill>
            <a:srgbClr val="EDE6F5"/>
          </a:solidFill>
          <a:ln w="6350">
            <a:solidFill>
              <a:srgbClr val="6B3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1901952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042416" y="2130552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AI Analysis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346704" y="1883664"/>
            <a:ext cx="0" cy="566928"/>
          </a:xfrm>
          <a:prstGeom prst="line">
            <a:avLst/>
          </a:prstGeom>
          <a:noFill/>
          <a:ln w="8890">
            <a:solidFill>
              <a:srgbClr val="CFD5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883664"/>
            <a:ext cx="51755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6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open-source AI engine converts technical permission strings into sentences anyone understands. Instead of 'READ_CONTACTS access granted', users see: 'This app uploads your full contact list to external servers.'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2596896"/>
            <a:ext cx="8430768" cy="749808"/>
          </a:xfrm>
          <a:prstGeom prst="rect">
            <a:avLst/>
          </a:prstGeom>
          <a:solidFill>
            <a:srgbClr val="EFF1F4"/>
          </a:solidFill>
          <a:ln w="6350">
            <a:solidFill>
              <a:srgbClr val="CFD5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670048"/>
            <a:ext cx="47548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A6C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042416" y="2706624"/>
            <a:ext cx="1207008" cy="201168"/>
          </a:xfrm>
          <a:prstGeom prst="roundRect">
            <a:avLst>
              <a:gd name="adj" fmla="val 18182"/>
            </a:avLst>
          </a:prstGeom>
          <a:solidFill>
            <a:srgbClr val="FAF5D8"/>
          </a:solidFill>
          <a:ln w="6350">
            <a:solidFill>
              <a:srgbClr val="9A6C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42416" y="2706624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A6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SCORING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042416" y="2935224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Risk Score (0–100)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346704" y="2688336"/>
            <a:ext cx="0" cy="566928"/>
          </a:xfrm>
          <a:prstGeom prst="line">
            <a:avLst/>
          </a:prstGeom>
          <a:noFill/>
          <a:ln w="8890">
            <a:solidFill>
              <a:srgbClr val="CFD5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688336"/>
            <a:ext cx="51755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6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permission types scored by sensitivity, data-sharing practices, and ecosystem risk. Precise location carries 8 pts; camera and microphone 6 pts each. Clear LOW / MEDIUM / HIGH / CRITICAL verdict with justification.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3401568"/>
            <a:ext cx="8430768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FD5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474720"/>
            <a:ext cx="47548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54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1042416" y="3511296"/>
            <a:ext cx="1207008" cy="201168"/>
          </a:xfrm>
          <a:prstGeom prst="roundRect">
            <a:avLst>
              <a:gd name="adj" fmla="val 18182"/>
            </a:avLst>
          </a:prstGeom>
          <a:solidFill>
            <a:srgbClr val="FAF0EB"/>
          </a:solidFill>
          <a:ln w="6350">
            <a:solidFill>
              <a:srgbClr val="B5461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42416" y="3511296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54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USER-CENTRIC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042416" y="3739896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Remediation Steps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346704" y="3493008"/>
            <a:ext cx="0" cy="566928"/>
          </a:xfrm>
          <a:prstGeom prst="line">
            <a:avLst/>
          </a:prstGeom>
          <a:noFill/>
          <a:ln w="8890">
            <a:solidFill>
              <a:srgbClr val="CFD5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0" y="3493008"/>
            <a:ext cx="51755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6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'Instagram is risky.' Exact Settings navigation paths to revoke excessive permissions on Android and iOS — specific, doable, today. No technical knowledge required.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4206240"/>
            <a:ext cx="8430768" cy="749808"/>
          </a:xfrm>
          <a:prstGeom prst="rect">
            <a:avLst/>
          </a:prstGeom>
          <a:solidFill>
            <a:srgbClr val="EFF1F4"/>
          </a:solidFill>
          <a:ln w="6350">
            <a:solidFill>
              <a:srgbClr val="CFD5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279392"/>
            <a:ext cx="47548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1042416" y="4315968"/>
            <a:ext cx="1207008" cy="201168"/>
          </a:xfrm>
          <a:prstGeom prst="roundRect">
            <a:avLst>
              <a:gd name="adj" fmla="val 18182"/>
            </a:avLst>
          </a:prstGeom>
          <a:solidFill>
            <a:srgbClr val="D4E8DC"/>
          </a:solidFill>
          <a:ln w="6350">
            <a:solidFill>
              <a:srgbClr val="2A6B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42416" y="4315968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MULTI-APP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042416" y="4544568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Analysis (Up to 5 Apps)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346704" y="4297680"/>
            <a:ext cx="0" cy="566928"/>
          </a:xfrm>
          <a:prstGeom prst="line">
            <a:avLst/>
          </a:prstGeom>
          <a:noFill/>
          <a:ln w="8890">
            <a:solidFill>
              <a:srgbClr val="CFD5D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0" y="4297680"/>
            <a:ext cx="51755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6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multiple apps in one request. Results return as comparable risk cards — letting users instantly identify which of their installed apps is the most invasive.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9456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Impact &amp; Feasibility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365760" y="786384"/>
            <a:ext cx="2724912" cy="822960"/>
          </a:xfrm>
          <a:prstGeom prst="rect">
            <a:avLst/>
          </a:prstGeom>
          <a:solidFill>
            <a:srgbClr val="EBF4F1"/>
          </a:solidFill>
          <a:ln w="15240">
            <a:solidFill>
              <a:srgbClr val="C8E3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04672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C5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6.8B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6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smartphone users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6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all potentially exposed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91840" y="786384"/>
            <a:ext cx="2724912" cy="822960"/>
          </a:xfrm>
          <a:prstGeom prst="rect">
            <a:avLst/>
          </a:prstGeom>
          <a:solidFill>
            <a:srgbClr val="FAF5D8"/>
          </a:solidFill>
          <a:ln w="15240">
            <a:solidFill>
              <a:srgbClr val="EDD8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804672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A6C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$0.05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383280" y="1261872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6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full analysis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6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(cloud-scalable, free tier)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17920" y="786384"/>
            <a:ext cx="2724912" cy="822960"/>
          </a:xfrm>
          <a:prstGeom prst="rect">
            <a:avLst/>
          </a:prstGeom>
          <a:solidFill>
            <a:srgbClr val="FAF0EB"/>
          </a:solidFill>
          <a:ln w="15240">
            <a:solidFill>
              <a:srgbClr val="F2DD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804672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54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sec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309360" y="1261872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6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to complete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6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risk report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1920240"/>
            <a:ext cx="4773168" cy="2176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5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INSERT CHART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5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6 — App Risk Ranking (Horizontal Bar Chart)</a:t>
            </a:r>
            <a:endParaRPr lang="en-US" sz="110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85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Facebook=45, TikTok=43, Instagram=40 … Signal=8 | Color gradient dark-red → green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315968"/>
            <a:ext cx="5047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8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risk ranking generated by ConsentLens scoring engine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614416" y="173736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kern="0" spc="120" dirty="0">
                <a:solidFill>
                  <a:srgbClr val="1C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614416" y="1993392"/>
            <a:ext cx="658368" cy="329184"/>
          </a:xfrm>
          <a:prstGeom prst="rect">
            <a:avLst/>
          </a:prstGeom>
          <a:solidFill>
            <a:srgbClr val="1C5C4A"/>
          </a:solidFill>
          <a:ln w="12700">
            <a:solidFill>
              <a:srgbClr val="1C5C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14416" y="1993392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64224" y="2029968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public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14416" y="2395728"/>
            <a:ext cx="658368" cy="329184"/>
          </a:xfrm>
          <a:prstGeom prst="rect">
            <a:avLst/>
          </a:prstGeom>
          <a:solidFill>
            <a:srgbClr val="B5461E"/>
          </a:solidFill>
          <a:ln w="12700">
            <a:solidFill>
              <a:srgbClr val="B546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14416" y="2395728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64224" y="2432304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14416" y="2798064"/>
            <a:ext cx="658368" cy="329184"/>
          </a:xfrm>
          <a:prstGeom prst="rect">
            <a:avLst/>
          </a:prstGeom>
          <a:solidFill>
            <a:srgbClr val="9A6C0A"/>
          </a:solidFill>
          <a:ln w="12700">
            <a:solidFill>
              <a:srgbClr val="9A6C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14416" y="2798064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64224" y="2834640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IT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14416" y="3200400"/>
            <a:ext cx="658368" cy="329184"/>
          </a:xfrm>
          <a:prstGeom prst="rect">
            <a:avLst/>
          </a:prstGeom>
          <a:solidFill>
            <a:srgbClr val="2A6B4A"/>
          </a:solidFill>
          <a:ln w="12700">
            <a:solidFill>
              <a:srgbClr val="2A6B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14416" y="3200400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64224" y="3236976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14416" y="3675888"/>
            <a:ext cx="3200400" cy="0"/>
          </a:xfrm>
          <a:prstGeom prst="line">
            <a:avLst/>
          </a:prstGeom>
          <a:noFill/>
          <a:ln w="7620">
            <a:solidFill>
              <a:srgbClr val="CFD5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14416" y="374904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kern="0" spc="120" dirty="0">
                <a:solidFill>
                  <a:srgbClr val="1C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614416" y="398678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6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Stateless — no database, zero setup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614416" y="420624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6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DPDP Act 2023 (India) compliant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14416" y="442569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6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Serverless — auto-scales to 1M+ queries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14416" y="464515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6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~$200/mo estimated for 10K queries/day</a:t>
            </a:r>
            <a:endParaRPr lang="en-US" sz="10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2D5F255C-33ED-F05D-B3F4-36E1DA4165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731645"/>
            <a:ext cx="5157216" cy="2571750"/>
          </a:xfrm>
          <a:prstGeom prst="rect">
            <a:avLst/>
          </a:prstGeom>
          <a:ln w="19050">
            <a:solidFill>
              <a:srgbClr val="C8E3DC"/>
            </a:solidFill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9456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&amp; Some Important Stuff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4133088" cy="3310128"/>
          </a:xfrm>
          <a:prstGeom prst="rect">
            <a:avLst/>
          </a:prstGeom>
          <a:solidFill>
            <a:srgbClr val="FFFFFF"/>
          </a:solidFill>
          <a:ln w="15240">
            <a:solidFill>
              <a:srgbClr val="CFD5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04672"/>
            <a:ext cx="4133088" cy="329184"/>
          </a:xfrm>
          <a:prstGeom prst="rect">
            <a:avLst/>
          </a:prstGeom>
          <a:solidFill>
            <a:srgbClr val="ECEEF2"/>
          </a:solidFill>
          <a:ln w="12700">
            <a:solidFill>
              <a:srgbClr val="CFD5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804672"/>
            <a:ext cx="3913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ConsentLens  ·  Sample Output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50208" cy="393192"/>
          </a:xfrm>
          <a:prstGeom prst="rect">
            <a:avLst/>
          </a:prstGeom>
          <a:solidFill>
            <a:srgbClr val="F2D7D4"/>
          </a:solidFill>
          <a:ln w="6350">
            <a:solidFill>
              <a:srgbClr val="DFBDB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89304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176272" y="1316736"/>
            <a:ext cx="1042416" cy="237744"/>
          </a:xfrm>
          <a:prstGeom prst="rect">
            <a:avLst/>
          </a:prstGeom>
          <a:solidFill>
            <a:srgbClr val="9B2416"/>
          </a:solidFill>
          <a:ln w="12700">
            <a:solidFill>
              <a:srgbClr val="9B24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76272" y="1316736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91840" y="128930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9B2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89/100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3950208" cy="393192"/>
          </a:xfrm>
          <a:prstGeom prst="rect">
            <a:avLst/>
          </a:prstGeom>
          <a:solidFill>
            <a:srgbClr val="F2D7D4"/>
          </a:solidFill>
          <a:ln w="6350">
            <a:solidFill>
              <a:srgbClr val="DFBDB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746504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176272" y="1773936"/>
            <a:ext cx="1042416" cy="237744"/>
          </a:xfrm>
          <a:prstGeom prst="rect">
            <a:avLst/>
          </a:prstGeom>
          <a:solidFill>
            <a:srgbClr val="9B2416"/>
          </a:solidFill>
          <a:ln w="12700">
            <a:solidFill>
              <a:srgbClr val="9B24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76272" y="1773936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91840" y="174650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9B2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87/100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148840"/>
            <a:ext cx="3950208" cy="393192"/>
          </a:xfrm>
          <a:prstGeom prst="rect">
            <a:avLst/>
          </a:prstGeom>
          <a:solidFill>
            <a:srgbClr val="F2DDD5"/>
          </a:solidFill>
          <a:ln w="6350">
            <a:solidFill>
              <a:srgbClr val="DBBCB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203704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176272" y="2231136"/>
            <a:ext cx="1042416" cy="237744"/>
          </a:xfrm>
          <a:prstGeom prst="rect">
            <a:avLst/>
          </a:prstGeom>
          <a:solidFill>
            <a:srgbClr val="B5461E"/>
          </a:solidFill>
          <a:ln w="12700">
            <a:solidFill>
              <a:srgbClr val="B546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76272" y="2231136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291840" y="220370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B54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74/100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2606040"/>
            <a:ext cx="3950208" cy="393192"/>
          </a:xfrm>
          <a:prstGeom prst="rect">
            <a:avLst/>
          </a:prstGeom>
          <a:solidFill>
            <a:srgbClr val="EDD89A"/>
          </a:solidFill>
          <a:ln w="6350">
            <a:solidFill>
              <a:srgbClr val="D4C0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660904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176272" y="2688336"/>
            <a:ext cx="1042416" cy="237744"/>
          </a:xfrm>
          <a:prstGeom prst="rect">
            <a:avLst/>
          </a:prstGeom>
          <a:solidFill>
            <a:srgbClr val="9A6C0A"/>
          </a:solidFill>
          <a:ln w="12700">
            <a:solidFill>
              <a:srgbClr val="9A6C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76272" y="2688336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291840" y="266090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9A6C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52/100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3063240"/>
            <a:ext cx="3950208" cy="393192"/>
          </a:xfrm>
          <a:prstGeom prst="rect">
            <a:avLst/>
          </a:prstGeom>
          <a:solidFill>
            <a:srgbClr val="D4E8DC"/>
          </a:solidFill>
          <a:ln w="6350">
            <a:solidFill>
              <a:srgbClr val="A8C8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118104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176272" y="3145536"/>
            <a:ext cx="1042416" cy="237744"/>
          </a:xfrm>
          <a:prstGeom prst="rect">
            <a:avLst/>
          </a:prstGeom>
          <a:solidFill>
            <a:srgbClr val="2A6B4A"/>
          </a:solidFill>
          <a:ln w="12700">
            <a:solidFill>
              <a:srgbClr val="2A6B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76272" y="3145536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291840" y="311810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A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12/100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3547872"/>
            <a:ext cx="3950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Secured by ArmorIQ  ·  Audit ID: ARM-2026-XXXX  ·  Zero data retained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65760" y="4206240"/>
            <a:ext cx="4133088" cy="347472"/>
          </a:xfrm>
          <a:prstGeom prst="rect">
            <a:avLst/>
          </a:prstGeom>
          <a:solidFill>
            <a:srgbClr val="1C5C4A"/>
          </a:solidFill>
          <a:ln w="12700">
            <a:solidFill>
              <a:srgbClr val="1C5C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206240"/>
            <a:ext cx="4133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https://github.com/sg721642/CONSENTLENS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754880" y="804672"/>
            <a:ext cx="4041648" cy="969264"/>
          </a:xfrm>
          <a:prstGeom prst="rect">
            <a:avLst/>
          </a:prstGeom>
          <a:solidFill>
            <a:srgbClr val="EFF1F4"/>
          </a:solidFill>
          <a:ln w="10160">
            <a:solidFill>
              <a:srgbClr val="CFD5D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804672"/>
            <a:ext cx="54864" cy="969264"/>
          </a:xfrm>
          <a:prstGeom prst="rect">
            <a:avLst/>
          </a:prstGeom>
          <a:solidFill>
            <a:srgbClr val="1C5C4A"/>
          </a:solidFill>
          <a:ln w="12700">
            <a:solidFill>
              <a:srgbClr val="1C5C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82896" y="896112"/>
            <a:ext cx="512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5C4A"/>
                </a:solidFill>
                <a:latin typeface="Cambria" pitchFamily="34" charset="0"/>
                <a:ea typeface="Cambria" pitchFamily="34" charset="-122"/>
              </a:rPr>
              <a:t>01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394960" y="87782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Universal, Urgent Problem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394960" y="1170432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6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6.8B smartphone users affected. India's </a:t>
            </a: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2023</a:t>
            </a:r>
            <a:r>
              <a:rPr lang="en-US" sz="1000" dirty="0">
                <a:solidFill>
                  <a:srgbClr val="56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makes this legally timely today.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1901952"/>
            <a:ext cx="4041648" cy="969264"/>
          </a:xfrm>
          <a:prstGeom prst="rect">
            <a:avLst/>
          </a:prstGeom>
          <a:solidFill>
            <a:srgbClr val="FFFFFF"/>
          </a:solidFill>
          <a:ln w="10160">
            <a:solidFill>
              <a:srgbClr val="CFD5D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1901952"/>
            <a:ext cx="54864" cy="969264"/>
          </a:xfrm>
          <a:prstGeom prst="rect">
            <a:avLst/>
          </a:prstGeom>
          <a:solidFill>
            <a:srgbClr val="1C5C4A"/>
          </a:solidFill>
          <a:ln w="12700">
            <a:solidFill>
              <a:srgbClr val="1C5C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82896" y="1993392"/>
            <a:ext cx="512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5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5394960" y="197510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Security Integration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394960" y="2267712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6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ArmorIQ policy enforcement is the product — not an add-on. The privacy promise is provable, live, and audited.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54880" y="2999232"/>
            <a:ext cx="4041648" cy="969264"/>
          </a:xfrm>
          <a:prstGeom prst="rect">
            <a:avLst/>
          </a:prstGeom>
          <a:solidFill>
            <a:srgbClr val="EFF1F4"/>
          </a:solidFill>
          <a:ln w="10160">
            <a:solidFill>
              <a:srgbClr val="CFD5D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54880" y="2999232"/>
            <a:ext cx="54864" cy="969264"/>
          </a:xfrm>
          <a:prstGeom prst="rect">
            <a:avLst/>
          </a:prstGeom>
          <a:solidFill>
            <a:srgbClr val="1C5C4A"/>
          </a:solidFill>
          <a:ln w="12700">
            <a:solidFill>
              <a:srgbClr val="1C5C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82896" y="3090672"/>
            <a:ext cx="512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5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5394960" y="307238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Working 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5394960" y="3364992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6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design, live AI analysis, real ArmorIQ audit log. A working product, not a mockup.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754880" y="4114800"/>
            <a:ext cx="4041648" cy="804672"/>
          </a:xfrm>
          <a:prstGeom prst="rect">
            <a:avLst/>
          </a:prstGeom>
          <a:solidFill>
            <a:srgbClr val="1C5C4A"/>
          </a:solidFill>
          <a:ln w="12700">
            <a:solidFill>
              <a:srgbClr val="1C5C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46320" y="4133088"/>
            <a:ext cx="385876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best security tool is one that doesn’t compromise your privacy to protect it.”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1273</Words>
  <Application>Microsoft Office PowerPoint</Application>
  <PresentationFormat>On-screen Show (16:9)</PresentationFormat>
  <Paragraphs>194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ConsentLens — NeuroX Hackathon 2025</dc:title>
  <dc:subject>App Permission Reality Checker</dc:subject>
  <dc:creator>ConsentLens Team</dc:creator>
  <cp:lastModifiedBy>satyam gupta</cp:lastModifiedBy>
  <cp:revision>5</cp:revision>
  <cp:lastPrinted>2026-06-21T06:12:06Z</cp:lastPrinted>
  <dcterms:created xsi:type="dcterms:W3CDTF">2026-06-16T02:33:31Z</dcterms:created>
  <dcterms:modified xsi:type="dcterms:W3CDTF">2026-06-26T06:12:55Z</dcterms:modified>
</cp:coreProperties>
</file>